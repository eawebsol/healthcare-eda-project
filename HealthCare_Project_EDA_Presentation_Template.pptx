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664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17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inkedin.com/in/esasye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4D29E52-BC07-41DE-A2B5-F3401C718B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8A5A0"/>
          </a:solidFill>
          <a:ln w="0">
            <a:solidFill>
              <a:srgbClr val="18A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DDD236-D06E-4823-8F8F-A6B1AEC98C0C}"/>
              </a:ext>
            </a:extLst>
          </p:cNvPr>
          <p:cNvSpPr>
            <a:spLocks noGrp="1"/>
          </p:cNvSpPr>
          <p:nvPr/>
        </p:nvSpPr>
        <p:spPr>
          <a:xfrm>
            <a:off x="9715500" y="704850"/>
            <a:ext cx="95250" cy="95250"/>
          </a:xfrm>
          <a:prstGeom prst="rect">
            <a:avLst/>
          </a:prstGeom>
          <a:solidFill>
            <a:srgbClr val="5CC8C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40DB6D-8E64-4857-828A-A279475CB378}"/>
              </a:ext>
            </a:extLst>
          </p:cNvPr>
          <p:cNvSpPr>
            <a:spLocks noGrp="1"/>
          </p:cNvSpPr>
          <p:nvPr/>
        </p:nvSpPr>
        <p:spPr>
          <a:xfrm>
            <a:off x="9982200" y="1000125"/>
            <a:ext cx="123825" cy="123825"/>
          </a:xfrm>
          <a:prstGeom prst="rect">
            <a:avLst/>
          </a:prstGeom>
          <a:solidFill>
            <a:srgbClr val="DDF3F1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967499-9BA0-409D-A75C-C3ADC201848F}"/>
              </a:ext>
            </a:extLst>
          </p:cNvPr>
          <p:cNvSpPr>
            <a:spLocks noGrp="1"/>
          </p:cNvSpPr>
          <p:nvPr/>
        </p:nvSpPr>
        <p:spPr>
          <a:xfrm>
            <a:off x="10248900" y="1295400"/>
            <a:ext cx="152400" cy="152400"/>
          </a:xfrm>
          <a:prstGeom prst="rect">
            <a:avLst/>
          </a:prstGeom>
          <a:solidFill>
            <a:srgbClr val="5CC8C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2807B-1092-42D3-81C0-599D862651AB}"/>
              </a:ext>
            </a:extLst>
          </p:cNvPr>
          <p:cNvSpPr>
            <a:spLocks noGrp="1"/>
          </p:cNvSpPr>
          <p:nvPr/>
        </p:nvSpPr>
        <p:spPr>
          <a:xfrm>
            <a:off x="10515600" y="1590675"/>
            <a:ext cx="180975" cy="180975"/>
          </a:xfrm>
          <a:prstGeom prst="rect">
            <a:avLst/>
          </a:prstGeom>
          <a:solidFill>
            <a:srgbClr val="DDF3F1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D7BAC4-B1E9-45FA-A4B2-4071ACBBDF33}"/>
              </a:ext>
            </a:extLst>
          </p:cNvPr>
          <p:cNvSpPr>
            <a:spLocks noGrp="1"/>
          </p:cNvSpPr>
          <p:nvPr/>
        </p:nvSpPr>
        <p:spPr>
          <a:xfrm>
            <a:off x="10782300" y="1885950"/>
            <a:ext cx="209550" cy="209550"/>
          </a:xfrm>
          <a:prstGeom prst="rect">
            <a:avLst/>
          </a:prstGeom>
          <a:solidFill>
            <a:srgbClr val="5CC8C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717E46-3612-4949-81C1-8A9C129DE574}"/>
              </a:ext>
            </a:extLst>
          </p:cNvPr>
          <p:cNvSpPr>
            <a:spLocks noGrp="1"/>
          </p:cNvSpPr>
          <p:nvPr/>
        </p:nvSpPr>
        <p:spPr>
          <a:xfrm>
            <a:off x="11049000" y="2181225"/>
            <a:ext cx="238125" cy="238125"/>
          </a:xfrm>
          <a:prstGeom prst="rect">
            <a:avLst/>
          </a:prstGeom>
          <a:solidFill>
            <a:srgbClr val="DDF3F1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B55FD8-968E-465A-817A-B34B61F71E63}"/>
              </a:ext>
            </a:extLst>
          </p:cNvPr>
          <p:cNvSpPr>
            <a:spLocks noGrp="1"/>
          </p:cNvSpPr>
          <p:nvPr/>
        </p:nvSpPr>
        <p:spPr>
          <a:xfrm>
            <a:off x="11315700" y="2476500"/>
            <a:ext cx="266700" cy="266700"/>
          </a:xfrm>
          <a:prstGeom prst="rect">
            <a:avLst/>
          </a:prstGeom>
          <a:solidFill>
            <a:srgbClr val="5CC8C4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31AAAF-B47C-4DE5-B3FD-E538986A3EEC}"/>
              </a:ext>
            </a:extLst>
          </p:cNvPr>
          <p:cNvSpPr>
            <a:spLocks noGrp="1"/>
          </p:cNvSpPr>
          <p:nvPr/>
        </p:nvSpPr>
        <p:spPr>
          <a:xfrm>
            <a:off x="4705350" y="552450"/>
            <a:ext cx="2781300" cy="2781300"/>
          </a:xfrm>
          <a:prstGeom prst="rect">
            <a:avLst/>
          </a:prstGeom>
          <a:solidFill>
            <a:srgbClr val="DDF3F1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5476875" y="1314450"/>
            <a:ext cx="1238250" cy="12382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2E8FD15-C4B7-4475-9709-83A6CDBF0522}"/>
              </a:ext>
            </a:extLst>
          </p:cNvPr>
          <p:cNvSpPr>
            <a:spLocks noGrp="1"/>
          </p:cNvSpPr>
          <p:nvPr/>
        </p:nvSpPr>
        <p:spPr>
          <a:xfrm>
            <a:off x="2095500" y="3581400"/>
            <a:ext cx="800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PATIENT OUTCOMES · EXPLORATORY DATA ANALYSIS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A42DCC-ACCC-4480-A26E-9891BD2B5071}"/>
              </a:ext>
            </a:extLst>
          </p:cNvPr>
          <p:cNvSpPr>
            <a:spLocks noGrp="1"/>
          </p:cNvSpPr>
          <p:nvPr/>
        </p:nvSpPr>
        <p:spPr>
          <a:xfrm>
            <a:off x="1619250" y="3914775"/>
            <a:ext cx="8953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917" lnSpcReduction="20000"/>
          </a:bodyPr>
          <a:lstStyle/>
          <a:p>
            <a:pPr algn="ctr">
              <a:defRPr sz="54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Patient Readmission</a:t>
            </a:r>
          </a:p>
          <a:p>
            <a:pPr algn="ctr">
              <a:defRPr sz="54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Risk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5C8229-B09D-4852-84E9-E4431926892A}"/>
              </a:ext>
            </a:extLst>
          </p:cNvPr>
          <p:cNvSpPr>
            <a:spLocks noGrp="1"/>
          </p:cNvSpPr>
          <p:nvPr/>
        </p:nvSpPr>
        <p:spPr>
          <a:xfrm>
            <a:off x="2381250" y="523875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An Exploratory Data Analysis of 500,000 Hospital Records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DE76B17-392C-4A3B-BF37-BDCDBC1CCE3B}"/>
              </a:ext>
            </a:extLst>
          </p:cNvPr>
          <p:cNvSpPr>
            <a:spLocks noGrp="1"/>
          </p:cNvSpPr>
          <p:nvPr/>
        </p:nvSpPr>
        <p:spPr>
          <a:xfrm>
            <a:off x="4000500" y="5819775"/>
            <a:ext cx="41910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D4469-1BA7-4EE4-A01A-C4BE202146C2}"/>
              </a:ext>
            </a:extLst>
          </p:cNvPr>
          <p:cNvSpPr>
            <a:spLocks noGrp="1"/>
          </p:cNvSpPr>
          <p:nvPr/>
        </p:nvSpPr>
        <p:spPr>
          <a:xfrm>
            <a:off x="2286000" y="6019800"/>
            <a:ext cx="762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sz="1425" b="0" dirty="0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Student Name: [Your Name]     </a:t>
            </a:r>
            <a:r>
              <a:rPr lang="en-GB" sz="1425" b="0" dirty="0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Instructor</a:t>
            </a:r>
            <a:r>
              <a:rPr sz="1425" b="0" dirty="0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: </a:t>
            </a:r>
            <a:r>
              <a:rPr lang="en-GB" sz="1425" b="0" dirty="0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Esa Syed</a:t>
            </a:r>
            <a:r>
              <a:rPr sz="1425" b="0" dirty="0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     Date: [Date]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0CDB7D-B222-5678-69B2-66789D82375B}"/>
              </a:ext>
            </a:extLst>
          </p:cNvPr>
          <p:cNvSpPr>
            <a:spLocks noGrp="1"/>
          </p:cNvSpPr>
          <p:nvPr/>
        </p:nvSpPr>
        <p:spPr>
          <a:xfrm>
            <a:off x="171450" y="6394268"/>
            <a:ext cx="1176147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0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lang="en-GB" sz="1425" b="0" dirty="0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Instructor LinkedIn: </a:t>
            </a:r>
            <a:r>
              <a:rPr lang="en-GB" sz="1425" b="0" dirty="0">
                <a:solidFill>
                  <a:srgbClr val="146C94"/>
                </a:solidFill>
                <a:latin typeface="Segoe UI"/>
                <a:ea typeface="Segoe UI"/>
                <a:cs typeface="Segoe UI"/>
                <a:hlinkClick r:id="rId4"/>
              </a:rPr>
              <a:t>https://linkedin.com/in/esasyed</a:t>
            </a:r>
            <a:r>
              <a:rPr lang="en-GB" sz="1425" b="0" dirty="0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   |   Student LinkedIn: </a:t>
            </a:r>
            <a:endParaRPr sz="1425" b="0" dirty="0">
              <a:solidFill>
                <a:srgbClr val="146C94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837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9D1F164-09C6-48F3-A9BF-D5BE6B01449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BUSINESS CONTEXT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674643-D045-4C27-AA12-29B3A930DCF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36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Why This Matters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1B86B7D-5DC8-4A38-8400-B3A9E8382DE3}"/>
              </a:ext>
            </a:extLst>
          </p:cNvPr>
          <p:cNvSpPr>
            <a:spLocks noGrp="1"/>
          </p:cNvSpPr>
          <p:nvPr/>
        </p:nvSpPr>
        <p:spPr>
          <a:xfrm>
            <a:off x="685800" y="1171575"/>
            <a:ext cx="10820400" cy="0"/>
          </a:xfrm>
          <a:prstGeom prst="line">
            <a:avLst/>
          </a:prstGeom>
          <a:noFill/>
          <a:ln w="19050">
            <a:solidFill>
              <a:srgbClr val="5CC8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72ED3A-3E90-481D-A074-C0DDDFD483B6}"/>
              </a:ext>
            </a:extLst>
          </p:cNvPr>
          <p:cNvSpPr>
            <a:spLocks noGrp="1"/>
          </p:cNvSpPr>
          <p:nvPr/>
        </p:nvSpPr>
        <p:spPr>
          <a:xfrm>
            <a:off x="11153775" y="6438900"/>
            <a:ext cx="3524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639425" y="476250"/>
            <a:ext cx="533400" cy="533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217A5F3-5EA6-4509-AE65-91E1C7B7D25A}"/>
              </a:ext>
            </a:extLst>
          </p:cNvPr>
          <p:cNvSpPr>
            <a:spLocks noGrp="1"/>
          </p:cNvSpPr>
          <p:nvPr/>
        </p:nvSpPr>
        <p:spPr>
          <a:xfrm>
            <a:off x="914400" y="16287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CACB76-AD58-4902-AF6F-CD53CA9B90D6}"/>
              </a:ext>
            </a:extLst>
          </p:cNvPr>
          <p:cNvSpPr>
            <a:spLocks noGrp="1"/>
          </p:cNvSpPr>
          <p:nvPr/>
        </p:nvSpPr>
        <p:spPr>
          <a:xfrm>
            <a:off x="1428750" y="1628775"/>
            <a:ext cx="567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Readmissions are costly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154DEE-641C-4F60-B43F-5FC361819E6F}"/>
              </a:ext>
            </a:extLst>
          </p:cNvPr>
          <p:cNvSpPr>
            <a:spLocks noGrp="1"/>
          </p:cNvSpPr>
          <p:nvPr/>
        </p:nvSpPr>
        <p:spPr>
          <a:xfrm>
            <a:off x="1428750" y="1943100"/>
            <a:ext cx="567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/>
          <a:p>
            <a:pPr algn="l">
              <a:defRPr sz="15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Unplanned returns increase care costs and pressure already-limited capacity.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6CEA11C-EB34-4275-942E-851DFEE4F111}"/>
              </a:ext>
            </a:extLst>
          </p:cNvPr>
          <p:cNvSpPr>
            <a:spLocks noGrp="1"/>
          </p:cNvSpPr>
          <p:nvPr/>
        </p:nvSpPr>
        <p:spPr>
          <a:xfrm>
            <a:off x="1428750" y="2428875"/>
            <a:ext cx="56769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EEF3D1-8BB8-4875-A941-683CA951FAA1}"/>
              </a:ext>
            </a:extLst>
          </p:cNvPr>
          <p:cNvSpPr>
            <a:spLocks noGrp="1"/>
          </p:cNvSpPr>
          <p:nvPr/>
        </p:nvSpPr>
        <p:spPr>
          <a:xfrm>
            <a:off x="914400" y="26955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32E716-9227-4111-B2F0-9008455E65E8}"/>
              </a:ext>
            </a:extLst>
          </p:cNvPr>
          <p:cNvSpPr>
            <a:spLocks noGrp="1"/>
          </p:cNvSpPr>
          <p:nvPr/>
        </p:nvSpPr>
        <p:spPr>
          <a:xfrm>
            <a:off x="1428750" y="2695575"/>
            <a:ext cx="567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They signal quality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A841B4-119F-43A0-BE7C-008CC174A7A0}"/>
              </a:ext>
            </a:extLst>
          </p:cNvPr>
          <p:cNvSpPr>
            <a:spLocks noGrp="1"/>
          </p:cNvSpPr>
          <p:nvPr/>
        </p:nvSpPr>
        <p:spPr>
          <a:xfrm>
            <a:off x="1428750" y="3009900"/>
            <a:ext cx="567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/>
          <a:p>
            <a:pPr algn="l">
              <a:defRPr sz="15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Readmission rates are a key metric for evaluating healthcare outcomes.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A016C29D-4861-43EA-9016-CA9BD478FAA0}"/>
              </a:ext>
            </a:extLst>
          </p:cNvPr>
          <p:cNvSpPr>
            <a:spLocks noGrp="1"/>
          </p:cNvSpPr>
          <p:nvPr/>
        </p:nvSpPr>
        <p:spPr>
          <a:xfrm>
            <a:off x="1428750" y="3495675"/>
            <a:ext cx="56769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F3477B-35C3-429D-890A-2FE71E29677A}"/>
              </a:ext>
            </a:extLst>
          </p:cNvPr>
          <p:cNvSpPr>
            <a:spLocks noGrp="1"/>
          </p:cNvSpPr>
          <p:nvPr/>
        </p:nvSpPr>
        <p:spPr>
          <a:xfrm>
            <a:off x="914400" y="3762375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31F95A-9A3E-450F-87C8-1FB61376289F}"/>
              </a:ext>
            </a:extLst>
          </p:cNvPr>
          <p:cNvSpPr>
            <a:spLocks noGrp="1"/>
          </p:cNvSpPr>
          <p:nvPr/>
        </p:nvSpPr>
        <p:spPr>
          <a:xfrm>
            <a:off x="1428750" y="3762375"/>
            <a:ext cx="567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18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Many may be preventable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E9A6F3-187B-4632-8981-16ACCDE7D712}"/>
              </a:ext>
            </a:extLst>
          </p:cNvPr>
          <p:cNvSpPr>
            <a:spLocks noGrp="1"/>
          </p:cNvSpPr>
          <p:nvPr/>
        </p:nvSpPr>
        <p:spPr>
          <a:xfrm>
            <a:off x="1428750" y="4076700"/>
            <a:ext cx="567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38"/>
          </a:bodyPr>
          <a:lstStyle/>
          <a:p>
            <a:pPr algn="l">
              <a:defRPr sz="15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Earlier identification can support better discharge planning and follow-up.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CF3CAAF0-6D78-4D96-B549-16EDBF6CA2A7}"/>
              </a:ext>
            </a:extLst>
          </p:cNvPr>
          <p:cNvSpPr>
            <a:spLocks noGrp="1"/>
          </p:cNvSpPr>
          <p:nvPr/>
        </p:nvSpPr>
        <p:spPr>
          <a:xfrm>
            <a:off x="1428750" y="4562475"/>
            <a:ext cx="56769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7EDBA5E7-AD9F-4941-85F4-27C5578496C3}"/>
              </a:ext>
            </a:extLst>
          </p:cNvPr>
          <p:cNvSpPr>
            <a:spLocks noGrp="1"/>
          </p:cNvSpPr>
          <p:nvPr/>
        </p:nvSpPr>
        <p:spPr>
          <a:xfrm>
            <a:off x="7810500" y="1790700"/>
            <a:ext cx="0" cy="0"/>
          </a:xfrm>
          <a:prstGeom prst="line">
            <a:avLst/>
          </a:prstGeom>
          <a:noFill/>
          <a:ln w="47625">
            <a:solidFill>
              <a:srgbClr val="18A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D2A9A5-6560-4E4D-A80D-A13E1D799C17}"/>
              </a:ext>
            </a:extLst>
          </p:cNvPr>
          <p:cNvSpPr>
            <a:spLocks noGrp="1"/>
          </p:cNvSpPr>
          <p:nvPr/>
        </p:nvSpPr>
        <p:spPr>
          <a:xfrm>
            <a:off x="8134350" y="17335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OUR GOAL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AB9721-2194-4214-B39B-2C4B0A42FACF}"/>
              </a:ext>
            </a:extLst>
          </p:cNvPr>
          <p:cNvSpPr>
            <a:spLocks noGrp="1"/>
          </p:cNvSpPr>
          <p:nvPr/>
        </p:nvSpPr>
        <p:spPr>
          <a:xfrm>
            <a:off x="8134350" y="2095500"/>
            <a:ext cx="2952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25"/>
          </a:bodyPr>
          <a:lstStyle/>
          <a:p>
            <a:pPr algn="l">
              <a:defRPr sz="24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Identify the factors that drive readmission risk — then translate them into actionable recommendations.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B884AC-9977-4338-BBB2-60271CA777B7}"/>
              </a:ext>
            </a:extLst>
          </p:cNvPr>
          <p:cNvSpPr>
            <a:spLocks noGrp="1"/>
          </p:cNvSpPr>
          <p:nvPr/>
        </p:nvSpPr>
        <p:spPr>
          <a:xfrm>
            <a:off x="8134350" y="404812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[Refine this goal based on your analytical scope]</a:t>
            </a:r>
          </a:p>
        </p:txBody>
      </p:sp>
    </p:spTree>
    <p:extLst>
      <p:ext uri="{BB962C8B-B14F-4D97-AF65-F5344CB8AC3E}">
        <p14:creationId xmlns:p14="http://schemas.microsoft.com/office/powerpoint/2010/main" val="874552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53427AA-21A1-43F5-BA81-7352B268C10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DATASET 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5BD151-1F5C-4785-951A-3326AFE6372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36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The Data We Analyzed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5B3EC94-B394-4C6D-ACE8-6EF08A3DD793}"/>
              </a:ext>
            </a:extLst>
          </p:cNvPr>
          <p:cNvSpPr>
            <a:spLocks noGrp="1"/>
          </p:cNvSpPr>
          <p:nvPr/>
        </p:nvSpPr>
        <p:spPr>
          <a:xfrm>
            <a:off x="685800" y="1171575"/>
            <a:ext cx="10820400" cy="0"/>
          </a:xfrm>
          <a:prstGeom prst="line">
            <a:avLst/>
          </a:prstGeom>
          <a:noFill/>
          <a:ln w="19050">
            <a:solidFill>
              <a:srgbClr val="5CC8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539FD7-D051-4508-9965-0933FF1DA173}"/>
              </a:ext>
            </a:extLst>
          </p:cNvPr>
          <p:cNvSpPr>
            <a:spLocks noGrp="1"/>
          </p:cNvSpPr>
          <p:nvPr/>
        </p:nvSpPr>
        <p:spPr>
          <a:xfrm>
            <a:off x="11153775" y="6438900"/>
            <a:ext cx="3524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639425" y="476250"/>
            <a:ext cx="533400" cy="533400"/>
          </a:xfrm>
          <a:prstGeom prst="rect">
            <a:avLst/>
          </a:prstGeom>
        </p:spPr>
      </p:pic>
      <p:graphicFrame>
        <p:nvGraphicFramePr>
          <p:cNvPr id="6" name="Table 5"/>
          <p:cNvGraphicFramePr/>
          <p:nvPr/>
        </p:nvGraphicFramePr>
        <p:xfrm>
          <a:off x="914400" y="1657350"/>
          <a:ext cx="7239000" cy="39433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PROPERTY</a:t>
                      </a:r>
                    </a:p>
                  </a:txBody>
                  <a:tcPr>
                    <a:solidFill>
                      <a:srgbClr val="146C9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VALUE</a:t>
                      </a:r>
                    </a:p>
                  </a:txBody>
                  <a:tcPr>
                    <a:solidFill>
                      <a:srgbClr val="146C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F7180"/>
                          </a:solidFill>
                          <a:latin typeface="Segoe UI"/>
                          <a:ea typeface="Segoe UI"/>
                          <a:cs typeface="Segoe UI"/>
                        </a:rPr>
                        <a:t>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2"/>
                          </a:solidFill>
                          <a:latin typeface="Segoe UI"/>
                          <a:ea typeface="Segoe UI"/>
                          <a:cs typeface="Segoe UI"/>
                        </a:rPr>
                        <a:t>Synthetic Healthcare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F7180"/>
                          </a:solidFill>
                          <a:latin typeface="Segoe UI"/>
                          <a:ea typeface="Segoe UI"/>
                          <a:cs typeface="Segoe UI"/>
                        </a:rPr>
                        <a:t>Records</a:t>
                      </a:r>
                    </a:p>
                  </a:txBody>
                  <a:tcPr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2"/>
                          </a:solidFill>
                          <a:latin typeface="Segoe UI"/>
                          <a:ea typeface="Segoe UI"/>
                          <a:cs typeface="Segoe UI"/>
                        </a:rPr>
                        <a:t>500,000</a:t>
                      </a:r>
                    </a:p>
                  </a:txBody>
                  <a:tcPr>
                    <a:solidFill>
                      <a:srgbClr val="EE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F7180"/>
                          </a:solidFill>
                          <a:latin typeface="Segoe UI"/>
                          <a:ea typeface="Segoe UI"/>
                          <a:cs typeface="Segoe UI"/>
                        </a:rPr>
                        <a:t>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2"/>
                          </a:solidFill>
                          <a:latin typeface="Segoe UI"/>
                          <a:ea typeface="Segoe UI"/>
                          <a:cs typeface="Segoe UI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F7180"/>
                          </a:solidFill>
                          <a:latin typeface="Segoe UI"/>
                          <a:ea typeface="Segoe UI"/>
                          <a:cs typeface="Segoe UI"/>
                        </a:rPr>
                        <a:t>Size</a:t>
                      </a:r>
                    </a:p>
                  </a:txBody>
                  <a:tcPr>
                    <a:solidFill>
                      <a:srgbClr val="EEF8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2"/>
                          </a:solidFill>
                          <a:latin typeface="Segoe UI"/>
                          <a:ea typeface="Segoe UI"/>
                          <a:cs typeface="Segoe UI"/>
                        </a:rPr>
                        <a:t>62.3 MB</a:t>
                      </a:r>
                    </a:p>
                  </a:txBody>
                  <a:tcPr>
                    <a:solidFill>
                      <a:srgbClr val="EE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F7180"/>
                          </a:solidFill>
                          <a:latin typeface="Segoe UI"/>
                          <a:ea typeface="Segoe UI"/>
                          <a:cs typeface="Segoe UI"/>
                        </a:rPr>
                        <a:t>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B52"/>
                          </a:solidFill>
                          <a:latin typeface="Segoe UI"/>
                          <a:ea typeface="Segoe UI"/>
                          <a:cs typeface="Segoe UI"/>
                        </a:rPr>
                        <a:t>Readmission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4D022D2F-8D85-4728-A100-1FD769FC75DA}"/>
              </a:ext>
            </a:extLst>
          </p:cNvPr>
          <p:cNvSpPr>
            <a:spLocks noGrp="1"/>
          </p:cNvSpPr>
          <p:nvPr/>
        </p:nvSpPr>
        <p:spPr>
          <a:xfrm>
            <a:off x="8715375" y="198120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462" lnSpcReduction="10000"/>
          </a:bodyPr>
          <a:lstStyle/>
          <a:p>
            <a:pPr algn="ctr">
              <a:defRPr sz="5100" b="1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sz="5100" b="1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500,000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D97226-2E11-4916-994B-B1A0E0D09701}"/>
              </a:ext>
            </a:extLst>
          </p:cNvPr>
          <p:cNvSpPr>
            <a:spLocks noGrp="1"/>
          </p:cNvSpPr>
          <p:nvPr/>
        </p:nvSpPr>
        <p:spPr>
          <a:xfrm>
            <a:off x="8715375" y="27146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hospital records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6D1E47C-938D-4D25-8B0F-10495CECBC0F}"/>
              </a:ext>
            </a:extLst>
          </p:cNvPr>
          <p:cNvSpPr>
            <a:spLocks noGrp="1"/>
          </p:cNvSpPr>
          <p:nvPr/>
        </p:nvSpPr>
        <p:spPr>
          <a:xfrm>
            <a:off x="8972550" y="3267075"/>
            <a:ext cx="196215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695F06-7BB0-48D8-B518-B9DD74FE1E80}"/>
              </a:ext>
            </a:extLst>
          </p:cNvPr>
          <p:cNvSpPr>
            <a:spLocks noGrp="1"/>
          </p:cNvSpPr>
          <p:nvPr/>
        </p:nvSpPr>
        <p:spPr>
          <a:xfrm>
            <a:off x="9029700" y="3543300"/>
            <a:ext cx="76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826" lnSpcReduction="10000"/>
          </a:bodyPr>
          <a:lstStyle/>
          <a:p>
            <a:pPr algn="ctr">
              <a:defRPr sz="345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760001-3B7C-4BB8-A66D-79A49A57590F}"/>
              </a:ext>
            </a:extLst>
          </p:cNvPr>
          <p:cNvSpPr>
            <a:spLocks noGrp="1"/>
          </p:cNvSpPr>
          <p:nvPr/>
        </p:nvSpPr>
        <p:spPr>
          <a:xfrm>
            <a:off x="9020175" y="4086225"/>
            <a:ext cx="781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columns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6A8A14-CF05-4CE9-ADC1-E79B10ACA7C1}"/>
              </a:ext>
            </a:extLst>
          </p:cNvPr>
          <p:cNvSpPr>
            <a:spLocks noGrp="1"/>
          </p:cNvSpPr>
          <p:nvPr/>
        </p:nvSpPr>
        <p:spPr>
          <a:xfrm>
            <a:off x="9867900" y="3543300"/>
            <a:ext cx="1200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30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62.3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40A4B4-8D67-432D-A8E1-D75F91884F17}"/>
              </a:ext>
            </a:extLst>
          </p:cNvPr>
          <p:cNvSpPr>
            <a:spLocks noGrp="1"/>
          </p:cNvSpPr>
          <p:nvPr/>
        </p:nvSpPr>
        <p:spPr>
          <a:xfrm>
            <a:off x="10029825" y="408622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MB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B7994E-0746-44E9-B40F-4351339C4EE5}"/>
              </a:ext>
            </a:extLst>
          </p:cNvPr>
          <p:cNvSpPr>
            <a:spLocks noGrp="1"/>
          </p:cNvSpPr>
          <p:nvPr/>
        </p:nvSpPr>
        <p:spPr>
          <a:xfrm>
            <a:off x="8858250" y="471487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Target variable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479A33-A808-4864-B09A-C243950865DF}"/>
              </a:ext>
            </a:extLst>
          </p:cNvPr>
          <p:cNvSpPr>
            <a:spLocks noGrp="1"/>
          </p:cNvSpPr>
          <p:nvPr/>
        </p:nvSpPr>
        <p:spPr>
          <a:xfrm>
            <a:off x="8667750" y="5010150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Readmission Risk</a:t>
            </a:r>
          </a:p>
        </p:txBody>
      </p:sp>
    </p:spTree>
    <p:extLst>
      <p:ext uri="{BB962C8B-B14F-4D97-AF65-F5344CB8AC3E}">
        <p14:creationId xmlns:p14="http://schemas.microsoft.com/office/powerpoint/2010/main" val="150558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4DD3588-2813-47B6-BBC7-61BCE5D22145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DATA CLEANING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A68FB6-2BCE-4F3F-9B23-5CD584D23A13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36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Preparing the Data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B92E5A0-0F56-4FF3-A5CB-130A844C4D1D}"/>
              </a:ext>
            </a:extLst>
          </p:cNvPr>
          <p:cNvSpPr>
            <a:spLocks noGrp="1"/>
          </p:cNvSpPr>
          <p:nvPr/>
        </p:nvSpPr>
        <p:spPr>
          <a:xfrm>
            <a:off x="685800" y="1171575"/>
            <a:ext cx="10820400" cy="0"/>
          </a:xfrm>
          <a:prstGeom prst="line">
            <a:avLst/>
          </a:prstGeom>
          <a:noFill/>
          <a:ln w="19050">
            <a:solidFill>
              <a:srgbClr val="5CC8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E04626-FB77-4CDC-B42C-FF62B12E7D0C}"/>
              </a:ext>
            </a:extLst>
          </p:cNvPr>
          <p:cNvSpPr>
            <a:spLocks noGrp="1"/>
          </p:cNvSpPr>
          <p:nvPr/>
        </p:nvSpPr>
        <p:spPr>
          <a:xfrm>
            <a:off x="11153775" y="6438900"/>
            <a:ext cx="3524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639425" y="476250"/>
            <a:ext cx="533400" cy="533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35D2F8-8982-4DDE-AB11-B91A13E60A3C}"/>
              </a:ext>
            </a:extLst>
          </p:cNvPr>
          <p:cNvSpPr>
            <a:spLocks noGrp="1"/>
          </p:cNvSpPr>
          <p:nvPr/>
        </p:nvSpPr>
        <p:spPr>
          <a:xfrm>
            <a:off x="914400" y="15430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E68A28-FF0D-48BB-AC83-221A873C136D}"/>
              </a:ext>
            </a:extLst>
          </p:cNvPr>
          <p:cNvSpPr>
            <a:spLocks noGrp="1"/>
          </p:cNvSpPr>
          <p:nvPr/>
        </p:nvSpPr>
        <p:spPr>
          <a:xfrm>
            <a:off x="1562100" y="15049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Missing values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4ABC1C-3BF4-4320-9E15-AD9EB53AF6EE}"/>
              </a:ext>
            </a:extLst>
          </p:cNvPr>
          <p:cNvSpPr>
            <a:spLocks noGrp="1"/>
          </p:cNvSpPr>
          <p:nvPr/>
        </p:nvSpPr>
        <p:spPr>
          <a:xfrm>
            <a:off x="4210050" y="151447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[Describe affected columns and handling strategy]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241B7BE-1425-40B1-A432-E1706C641CF9}"/>
              </a:ext>
            </a:extLst>
          </p:cNvPr>
          <p:cNvSpPr>
            <a:spLocks noGrp="1"/>
          </p:cNvSpPr>
          <p:nvPr/>
        </p:nvSpPr>
        <p:spPr>
          <a:xfrm>
            <a:off x="1562100" y="2057400"/>
            <a:ext cx="931545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9FFF2C-75EA-4CA3-988D-DD365BC1B894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B1688B-B727-438A-B4C8-A2BC0972A54D}"/>
              </a:ext>
            </a:extLst>
          </p:cNvPr>
          <p:cNvSpPr>
            <a:spLocks noGrp="1"/>
          </p:cNvSpPr>
          <p:nvPr/>
        </p:nvSpPr>
        <p:spPr>
          <a:xfrm>
            <a:off x="1562100" y="24193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Outliers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869C0-32F6-495C-9023-B5B17EF0C7EF}"/>
              </a:ext>
            </a:extLst>
          </p:cNvPr>
          <p:cNvSpPr>
            <a:spLocks noGrp="1"/>
          </p:cNvSpPr>
          <p:nvPr/>
        </p:nvSpPr>
        <p:spPr>
          <a:xfrm>
            <a:off x="4210050" y="242887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[Explain detection method and treatment]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005FA505-6FB6-491D-964B-348042CE3670}"/>
              </a:ext>
            </a:extLst>
          </p:cNvPr>
          <p:cNvSpPr>
            <a:spLocks noGrp="1"/>
          </p:cNvSpPr>
          <p:nvPr/>
        </p:nvSpPr>
        <p:spPr>
          <a:xfrm>
            <a:off x="1562100" y="2971800"/>
            <a:ext cx="931545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B18356-FF18-4A6A-8557-864508EA42D0}"/>
              </a:ext>
            </a:extLst>
          </p:cNvPr>
          <p:cNvSpPr>
            <a:spLocks noGrp="1"/>
          </p:cNvSpPr>
          <p:nvPr/>
        </p:nvSpPr>
        <p:spPr>
          <a:xfrm>
            <a:off x="914400" y="33718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F877FB-B079-442A-862E-DB089459A280}"/>
              </a:ext>
            </a:extLst>
          </p:cNvPr>
          <p:cNvSpPr>
            <a:spLocks noGrp="1"/>
          </p:cNvSpPr>
          <p:nvPr/>
        </p:nvSpPr>
        <p:spPr>
          <a:xfrm>
            <a:off x="1562100" y="33337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Duplicates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94F042-C8BB-4B22-BECA-7C23FE22BE54}"/>
              </a:ext>
            </a:extLst>
          </p:cNvPr>
          <p:cNvSpPr>
            <a:spLocks noGrp="1"/>
          </p:cNvSpPr>
          <p:nvPr/>
        </p:nvSpPr>
        <p:spPr>
          <a:xfrm>
            <a:off x="4210050" y="334327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[Enter number of duplicate records removed]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3DFAB0E6-3F29-444F-9A3B-FB343C4B60B2}"/>
              </a:ext>
            </a:extLst>
          </p:cNvPr>
          <p:cNvSpPr>
            <a:spLocks noGrp="1"/>
          </p:cNvSpPr>
          <p:nvPr/>
        </p:nvSpPr>
        <p:spPr>
          <a:xfrm>
            <a:off x="1562100" y="3886200"/>
            <a:ext cx="931545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5843BF-15A5-4DFE-AC58-E0DEA3D86258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B20E72-FE5F-4941-9988-0B59BA726D84}"/>
              </a:ext>
            </a:extLst>
          </p:cNvPr>
          <p:cNvSpPr>
            <a:spLocks noGrp="1"/>
          </p:cNvSpPr>
          <p:nvPr/>
        </p:nvSpPr>
        <p:spPr>
          <a:xfrm>
            <a:off x="1562100" y="42481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Standardization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D31B73-819A-494A-998E-43B6497E1569}"/>
              </a:ext>
            </a:extLst>
          </p:cNvPr>
          <p:cNvSpPr>
            <a:spLocks noGrp="1"/>
          </p:cNvSpPr>
          <p:nvPr/>
        </p:nvSpPr>
        <p:spPr>
          <a:xfrm>
            <a:off x="4210050" y="425767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[List fields and values that were standardized]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90BF83A6-1F8C-4953-86CE-2B3B6960EB89}"/>
              </a:ext>
            </a:extLst>
          </p:cNvPr>
          <p:cNvSpPr>
            <a:spLocks noGrp="1"/>
          </p:cNvSpPr>
          <p:nvPr/>
        </p:nvSpPr>
        <p:spPr>
          <a:xfrm>
            <a:off x="1562100" y="4800600"/>
            <a:ext cx="931545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FF3C5A-4964-4F8A-9CFE-CD4792477A63}"/>
              </a:ext>
            </a:extLst>
          </p:cNvPr>
          <p:cNvSpPr>
            <a:spLocks noGrp="1"/>
          </p:cNvSpPr>
          <p:nvPr/>
        </p:nvSpPr>
        <p:spPr>
          <a:xfrm>
            <a:off x="914400" y="52006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3A0232-E938-4BEF-BBC4-E044CCE08D1F}"/>
              </a:ext>
            </a:extLst>
          </p:cNvPr>
          <p:cNvSpPr>
            <a:spLocks noGrp="1"/>
          </p:cNvSpPr>
          <p:nvPr/>
        </p:nvSpPr>
        <p:spPr>
          <a:xfrm>
            <a:off x="1562100" y="51625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Date handling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43F6D0-F88A-4302-BB6B-FD24A8EE37DF}"/>
              </a:ext>
            </a:extLst>
          </p:cNvPr>
          <p:cNvSpPr>
            <a:spLocks noGrp="1"/>
          </p:cNvSpPr>
          <p:nvPr/>
        </p:nvSpPr>
        <p:spPr>
          <a:xfrm>
            <a:off x="4210050" y="5172075"/>
            <a:ext cx="666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[Describe date conversions or derived features]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66B59DAB-1AC3-448A-8273-CF3F7BDB1474}"/>
              </a:ext>
            </a:extLst>
          </p:cNvPr>
          <p:cNvSpPr>
            <a:spLocks noGrp="1"/>
          </p:cNvSpPr>
          <p:nvPr/>
        </p:nvSpPr>
        <p:spPr>
          <a:xfrm>
            <a:off x="1562100" y="5715000"/>
            <a:ext cx="931545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417C0F-3FC9-4441-8A87-DA8EF40F492C}"/>
              </a:ext>
            </a:extLst>
          </p:cNvPr>
          <p:cNvSpPr>
            <a:spLocks noGrp="1"/>
          </p:cNvSpPr>
          <p:nvPr/>
        </p:nvSpPr>
        <p:spPr>
          <a:xfrm>
            <a:off x="1562100" y="6096000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Keep the cleaning log reproducible: record what changed, why, and how many rows were affected.</a:t>
            </a:r>
          </a:p>
        </p:txBody>
      </p:sp>
    </p:spTree>
    <p:extLst>
      <p:ext uri="{BB962C8B-B14F-4D97-AF65-F5344CB8AC3E}">
        <p14:creationId xmlns:p14="http://schemas.microsoft.com/office/powerpoint/2010/main" val="138856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0E9C8E9-3882-4057-848D-0E8D34C2976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KEY FINDING 1 · UNIVARIATE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0D3052-68C3-4358-BA0C-D711F7A2486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78"/>
          </a:bodyPr>
          <a:lstStyle/>
          <a:p>
            <a:pPr algn="l">
              <a:defRPr sz="36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What We Learned from Individual Variables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3D85E4B2-1234-4FEF-8880-A8744F80DDED}"/>
              </a:ext>
            </a:extLst>
          </p:cNvPr>
          <p:cNvSpPr>
            <a:spLocks noGrp="1"/>
          </p:cNvSpPr>
          <p:nvPr/>
        </p:nvSpPr>
        <p:spPr>
          <a:xfrm>
            <a:off x="685800" y="1171575"/>
            <a:ext cx="10820400" cy="0"/>
          </a:xfrm>
          <a:prstGeom prst="line">
            <a:avLst/>
          </a:prstGeom>
          <a:noFill/>
          <a:ln w="19050">
            <a:solidFill>
              <a:srgbClr val="5CC8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0157F6-A662-4F2F-B9C9-5BED6F1F2C8F}"/>
              </a:ext>
            </a:extLst>
          </p:cNvPr>
          <p:cNvSpPr>
            <a:spLocks noGrp="1"/>
          </p:cNvSpPr>
          <p:nvPr/>
        </p:nvSpPr>
        <p:spPr>
          <a:xfrm>
            <a:off x="11153775" y="6438900"/>
            <a:ext cx="3524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639425" y="476250"/>
            <a:ext cx="533400" cy="533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9A86D6-7935-4DE0-AB5C-ED437DD8258B}"/>
              </a:ext>
            </a:extLst>
          </p:cNvPr>
          <p:cNvSpPr>
            <a:spLocks noGrp="1"/>
          </p:cNvSpPr>
          <p:nvPr/>
        </p:nvSpPr>
        <p:spPr>
          <a:xfrm>
            <a:off x="914400" y="15049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278" lnSpcReduction="10000"/>
          </a:bodyPr>
          <a:lstStyle/>
          <a:p>
            <a:pPr algn="l">
              <a:defRPr sz="225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B8C8DC-1158-41F6-A782-E56AA68759B6}"/>
              </a:ext>
            </a:extLst>
          </p:cNvPr>
          <p:cNvSpPr>
            <a:spLocks noGrp="1"/>
          </p:cNvSpPr>
          <p:nvPr/>
        </p:nvSpPr>
        <p:spPr>
          <a:xfrm>
            <a:off x="1257300" y="1524000"/>
            <a:ext cx="981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[Finding 1 — describe the dominant pattern or distribution]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26D5DA-F809-44FF-A19A-3305ACD98BA1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278" lnSpcReduction="10000"/>
          </a:bodyPr>
          <a:lstStyle/>
          <a:p>
            <a:pPr algn="l">
              <a:defRPr sz="225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4B2012-9B98-4EB2-B1AB-B97CBD689038}"/>
              </a:ext>
            </a:extLst>
          </p:cNvPr>
          <p:cNvSpPr>
            <a:spLocks noGrp="1"/>
          </p:cNvSpPr>
          <p:nvPr/>
        </p:nvSpPr>
        <p:spPr>
          <a:xfrm>
            <a:off x="1257300" y="2114550"/>
            <a:ext cx="981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[Finding 2 — quantify an important center, spread, or skew]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BA737E-A1B4-453E-8327-E208721000ED}"/>
              </a:ext>
            </a:extLst>
          </p:cNvPr>
          <p:cNvSpPr>
            <a:spLocks noGrp="1"/>
          </p:cNvSpPr>
          <p:nvPr/>
        </p:nvSpPr>
        <p:spPr>
          <a:xfrm>
            <a:off x="914400" y="26860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5278" lnSpcReduction="10000"/>
          </a:bodyPr>
          <a:lstStyle/>
          <a:p>
            <a:pPr algn="l">
              <a:defRPr sz="225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E4CA6A-EC1F-48D5-A2F7-B30A71C04237}"/>
              </a:ext>
            </a:extLst>
          </p:cNvPr>
          <p:cNvSpPr>
            <a:spLocks noGrp="1"/>
          </p:cNvSpPr>
          <p:nvPr/>
        </p:nvSpPr>
        <p:spPr>
          <a:xfrm>
            <a:off x="1257300" y="2705100"/>
            <a:ext cx="981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[Finding 3 — call out an unusual category, tail, or outlier]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A3B361-B375-401A-917E-85A0C4A87EB5}"/>
              </a:ext>
            </a:extLst>
          </p:cNvPr>
          <p:cNvSpPr>
            <a:spLocks noGrp="1"/>
          </p:cNvSpPr>
          <p:nvPr/>
        </p:nvSpPr>
        <p:spPr>
          <a:xfrm>
            <a:off x="914400" y="3571875"/>
            <a:ext cx="3190875" cy="209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2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EC108D-C220-40BC-9784-9E1717AEBB03}"/>
              </a:ext>
            </a:extLst>
          </p:cNvPr>
          <p:cNvSpPr>
            <a:spLocks noGrp="1"/>
          </p:cNvSpPr>
          <p:nvPr/>
        </p:nvSpPr>
        <p:spPr>
          <a:xfrm>
            <a:off x="1085850" y="4371975"/>
            <a:ext cx="2847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[Insert mini chart 1]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3E1467-2144-483B-8EA5-DC8933D0BAD9}"/>
              </a:ext>
            </a:extLst>
          </p:cNvPr>
          <p:cNvSpPr>
            <a:spLocks noGrp="1"/>
          </p:cNvSpPr>
          <p:nvPr/>
        </p:nvSpPr>
        <p:spPr>
          <a:xfrm>
            <a:off x="1085850" y="4733925"/>
            <a:ext cx="28479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Suggested: histogram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DC6C10-FFE5-4829-BD76-74584DBD46B3}"/>
              </a:ext>
            </a:extLst>
          </p:cNvPr>
          <p:cNvSpPr>
            <a:spLocks noGrp="1"/>
          </p:cNvSpPr>
          <p:nvPr/>
        </p:nvSpPr>
        <p:spPr>
          <a:xfrm>
            <a:off x="4495800" y="3571875"/>
            <a:ext cx="3190875" cy="209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2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F4BC32-C8CD-4969-80FE-FA6C33F8BF91}"/>
              </a:ext>
            </a:extLst>
          </p:cNvPr>
          <p:cNvSpPr>
            <a:spLocks noGrp="1"/>
          </p:cNvSpPr>
          <p:nvPr/>
        </p:nvSpPr>
        <p:spPr>
          <a:xfrm>
            <a:off x="4667250" y="4371975"/>
            <a:ext cx="2847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[Insert mini chart 2]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2B4295-6A0A-4F81-952B-93F568AB39F2}"/>
              </a:ext>
            </a:extLst>
          </p:cNvPr>
          <p:cNvSpPr>
            <a:spLocks noGrp="1"/>
          </p:cNvSpPr>
          <p:nvPr/>
        </p:nvSpPr>
        <p:spPr>
          <a:xfrm>
            <a:off x="4667250" y="4733925"/>
            <a:ext cx="28479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Suggested: bar chart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DD2784-E55D-42A8-A2C0-9574FB60D86D}"/>
              </a:ext>
            </a:extLst>
          </p:cNvPr>
          <p:cNvSpPr>
            <a:spLocks noGrp="1"/>
          </p:cNvSpPr>
          <p:nvPr/>
        </p:nvSpPr>
        <p:spPr>
          <a:xfrm>
            <a:off x="8077200" y="3571875"/>
            <a:ext cx="3190875" cy="209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2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0324DE-FA34-4FC6-8EBD-EC7455997FDC}"/>
              </a:ext>
            </a:extLst>
          </p:cNvPr>
          <p:cNvSpPr>
            <a:spLocks noGrp="1"/>
          </p:cNvSpPr>
          <p:nvPr/>
        </p:nvSpPr>
        <p:spPr>
          <a:xfrm>
            <a:off x="8248650" y="4371975"/>
            <a:ext cx="2847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[Insert mini chart 3]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0FEECF-9B90-41A2-84D6-A4F1C804330F}"/>
              </a:ext>
            </a:extLst>
          </p:cNvPr>
          <p:cNvSpPr>
            <a:spLocks noGrp="1"/>
          </p:cNvSpPr>
          <p:nvPr/>
        </p:nvSpPr>
        <p:spPr>
          <a:xfrm>
            <a:off x="8248650" y="4733925"/>
            <a:ext cx="28479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Suggested: box plot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52EB0E-59D8-4D13-B195-B15F03F6E5D2}"/>
              </a:ext>
            </a:extLst>
          </p:cNvPr>
          <p:cNvSpPr>
            <a:spLocks noGrp="1"/>
          </p:cNvSpPr>
          <p:nvPr/>
        </p:nvSpPr>
        <p:spPr>
          <a:xfrm>
            <a:off x="914400" y="5915025"/>
            <a:ext cx="809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Use one sentence per visual: what happened, how large was it, and why does it matter?</a:t>
            </a:r>
          </a:p>
        </p:txBody>
      </p:sp>
    </p:spTree>
    <p:extLst>
      <p:ext uri="{BB962C8B-B14F-4D97-AF65-F5344CB8AC3E}">
        <p14:creationId xmlns:p14="http://schemas.microsoft.com/office/powerpoint/2010/main" val="32738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A6020E4-FB66-447A-BD32-6D28FA29217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KEY FINDING 2 · BIVARIATE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FC14E9-518E-4D47-9322-4B9A155C0FC5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36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Relationships Between Variables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D3C9A52-B665-441F-B628-09E54A3883FB}"/>
              </a:ext>
            </a:extLst>
          </p:cNvPr>
          <p:cNvSpPr>
            <a:spLocks noGrp="1"/>
          </p:cNvSpPr>
          <p:nvPr/>
        </p:nvSpPr>
        <p:spPr>
          <a:xfrm>
            <a:off x="685800" y="1171575"/>
            <a:ext cx="10820400" cy="0"/>
          </a:xfrm>
          <a:prstGeom prst="line">
            <a:avLst/>
          </a:prstGeom>
          <a:noFill/>
          <a:ln w="19050">
            <a:solidFill>
              <a:srgbClr val="5CC8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528048-0394-40E1-AB25-E5DB9DA003B7}"/>
              </a:ext>
            </a:extLst>
          </p:cNvPr>
          <p:cNvSpPr>
            <a:spLocks noGrp="1"/>
          </p:cNvSpPr>
          <p:nvPr/>
        </p:nvSpPr>
        <p:spPr>
          <a:xfrm>
            <a:off x="11153775" y="6438900"/>
            <a:ext cx="3524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639425" y="476250"/>
            <a:ext cx="533400" cy="533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E7FE7AF-3C9B-4175-B66D-F4FC7EB51771}"/>
              </a:ext>
            </a:extLst>
          </p:cNvPr>
          <p:cNvSpPr>
            <a:spLocks noGrp="1"/>
          </p:cNvSpPr>
          <p:nvPr/>
        </p:nvSpPr>
        <p:spPr>
          <a:xfrm>
            <a:off x="914400" y="1724025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C94DEF-3023-4848-BFFA-7A69A3D418E5}"/>
              </a:ext>
            </a:extLst>
          </p:cNvPr>
          <p:cNvSpPr>
            <a:spLocks noGrp="1"/>
          </p:cNvSpPr>
          <p:nvPr/>
        </p:nvSpPr>
        <p:spPr>
          <a:xfrm>
            <a:off x="1409700" y="1695450"/>
            <a:ext cx="323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09"/>
          </a:bodyPr>
          <a:lstStyle/>
          <a:p>
            <a:pPr algn="l">
              <a:defRPr sz="1650" b="0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[Finding 1 — compare readmission risk across a key category]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5F3279B4-FAE8-46C0-BB06-B9D66FD9F579}"/>
              </a:ext>
            </a:extLst>
          </p:cNvPr>
          <p:cNvSpPr>
            <a:spLocks noGrp="1"/>
          </p:cNvSpPr>
          <p:nvPr/>
        </p:nvSpPr>
        <p:spPr>
          <a:xfrm>
            <a:off x="1409700" y="2419350"/>
            <a:ext cx="28575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0DAD17-E80A-4FAF-B776-B263EED4CF37}"/>
              </a:ext>
            </a:extLst>
          </p:cNvPr>
          <p:cNvSpPr>
            <a:spLocks noGrp="1"/>
          </p:cNvSpPr>
          <p:nvPr/>
        </p:nvSpPr>
        <p:spPr>
          <a:xfrm>
            <a:off x="914400" y="2790825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D4DE3D-9BA2-4792-A8BD-5B9965A1A4C2}"/>
              </a:ext>
            </a:extLst>
          </p:cNvPr>
          <p:cNvSpPr>
            <a:spLocks noGrp="1"/>
          </p:cNvSpPr>
          <p:nvPr/>
        </p:nvSpPr>
        <p:spPr>
          <a:xfrm>
            <a:off x="1409700" y="2762250"/>
            <a:ext cx="323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409"/>
          </a:bodyPr>
          <a:lstStyle/>
          <a:p>
            <a:pPr algn="l">
              <a:defRPr sz="1650" b="0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[Finding 2 — describe the direction and strength of a relationship]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0DD7BA3B-1024-4F42-8928-727C319CD504}"/>
              </a:ext>
            </a:extLst>
          </p:cNvPr>
          <p:cNvSpPr>
            <a:spLocks noGrp="1"/>
          </p:cNvSpPr>
          <p:nvPr/>
        </p:nvSpPr>
        <p:spPr>
          <a:xfrm>
            <a:off x="1409700" y="3486150"/>
            <a:ext cx="28575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A01ED4-0FE8-49DF-B910-02509927B147}"/>
              </a:ext>
            </a:extLst>
          </p:cNvPr>
          <p:cNvSpPr>
            <a:spLocks noGrp="1"/>
          </p:cNvSpPr>
          <p:nvPr/>
        </p:nvSpPr>
        <p:spPr>
          <a:xfrm>
            <a:off x="914400" y="3857625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E4278B-7787-4102-993B-FE279D326926}"/>
              </a:ext>
            </a:extLst>
          </p:cNvPr>
          <p:cNvSpPr>
            <a:spLocks noGrp="1"/>
          </p:cNvSpPr>
          <p:nvPr/>
        </p:nvSpPr>
        <p:spPr>
          <a:xfrm>
            <a:off x="1409700" y="3829050"/>
            <a:ext cx="323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02"/>
          </a:bodyPr>
          <a:lstStyle/>
          <a:p>
            <a:pPr algn="l">
              <a:defRPr sz="1650" b="0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[Finding 3 — identify a subgroup with a disproportionate outcome]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F0428339-F0E2-4F41-B0F8-E3BF6DE2F9F2}"/>
              </a:ext>
            </a:extLst>
          </p:cNvPr>
          <p:cNvSpPr>
            <a:spLocks noGrp="1"/>
          </p:cNvSpPr>
          <p:nvPr/>
        </p:nvSpPr>
        <p:spPr>
          <a:xfrm>
            <a:off x="1409700" y="4552950"/>
            <a:ext cx="28575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6A7CC7-449E-4344-AB4C-453726F8269E}"/>
              </a:ext>
            </a:extLst>
          </p:cNvPr>
          <p:cNvSpPr>
            <a:spLocks noGrp="1"/>
          </p:cNvSpPr>
          <p:nvPr/>
        </p:nvSpPr>
        <p:spPr>
          <a:xfrm>
            <a:off x="5095875" y="1562100"/>
            <a:ext cx="6172200" cy="238125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2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636F97-ABE5-44A8-B238-6104ABB72CAA}"/>
              </a:ext>
            </a:extLst>
          </p:cNvPr>
          <p:cNvSpPr>
            <a:spLocks noGrp="1"/>
          </p:cNvSpPr>
          <p:nvPr/>
        </p:nvSpPr>
        <p:spPr>
          <a:xfrm>
            <a:off x="5267325" y="2505075"/>
            <a:ext cx="582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[Insert primary relationship chart]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740634-B8F1-444E-9E3E-941DEE0AFF0C}"/>
              </a:ext>
            </a:extLst>
          </p:cNvPr>
          <p:cNvSpPr>
            <a:spLocks noGrp="1"/>
          </p:cNvSpPr>
          <p:nvPr/>
        </p:nvSpPr>
        <p:spPr>
          <a:xfrm>
            <a:off x="5267325" y="2867025"/>
            <a:ext cx="5829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Suggested: grouped bars or scatter plot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09B801-53FE-4E89-A35A-027AFABE77FA}"/>
              </a:ext>
            </a:extLst>
          </p:cNvPr>
          <p:cNvSpPr>
            <a:spLocks noGrp="1"/>
          </p:cNvSpPr>
          <p:nvPr/>
        </p:nvSpPr>
        <p:spPr>
          <a:xfrm>
            <a:off x="5095875" y="4267200"/>
            <a:ext cx="2914650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2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2139D7-BF0D-4B9F-B446-A9EEA616BCCE}"/>
              </a:ext>
            </a:extLst>
          </p:cNvPr>
          <p:cNvSpPr>
            <a:spLocks noGrp="1"/>
          </p:cNvSpPr>
          <p:nvPr/>
        </p:nvSpPr>
        <p:spPr>
          <a:xfrm>
            <a:off x="5267325" y="47815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[Insert chart 2]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AC5DF1-C2A8-425C-BA7E-405AC93194E3}"/>
              </a:ext>
            </a:extLst>
          </p:cNvPr>
          <p:cNvSpPr>
            <a:spLocks noGrp="1"/>
          </p:cNvSpPr>
          <p:nvPr/>
        </p:nvSpPr>
        <p:spPr>
          <a:xfrm>
            <a:off x="5267325" y="51435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Category comparison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1315C9-ABB7-4767-8B25-C1BDC5491C15}"/>
              </a:ext>
            </a:extLst>
          </p:cNvPr>
          <p:cNvSpPr>
            <a:spLocks noGrp="1"/>
          </p:cNvSpPr>
          <p:nvPr/>
        </p:nvSpPr>
        <p:spPr>
          <a:xfrm>
            <a:off x="8353425" y="4267200"/>
            <a:ext cx="2914650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2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3EA512-FD36-4799-92A3-D23F60DCEC8C}"/>
              </a:ext>
            </a:extLst>
          </p:cNvPr>
          <p:cNvSpPr>
            <a:spLocks noGrp="1"/>
          </p:cNvSpPr>
          <p:nvPr/>
        </p:nvSpPr>
        <p:spPr>
          <a:xfrm>
            <a:off x="8524875" y="47815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[Insert chart 3]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CB3C20-11B2-4D85-9A52-7F05ED254E1E}"/>
              </a:ext>
            </a:extLst>
          </p:cNvPr>
          <p:cNvSpPr>
            <a:spLocks noGrp="1"/>
          </p:cNvSpPr>
          <p:nvPr/>
        </p:nvSpPr>
        <p:spPr>
          <a:xfrm>
            <a:off x="8524875" y="5143500"/>
            <a:ext cx="2571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Distribution by group</a:t>
            </a:r>
          </a:p>
        </p:txBody>
      </p:sp>
    </p:spTree>
    <p:extLst>
      <p:ext uri="{BB962C8B-B14F-4D97-AF65-F5344CB8AC3E}">
        <p14:creationId xmlns:p14="http://schemas.microsoft.com/office/powerpoint/2010/main" val="1790868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17A6777-F0E1-4257-B080-9307E89AC679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KEY FINDING 3 · MULTIVARIATE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7F7680-BB96-4F6D-9E28-79688C431C18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906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724"/>
          </a:bodyPr>
          <a:lstStyle/>
          <a:p>
            <a:pPr algn="l">
              <a:defRPr sz="36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What Correlates Most with Readmission Risk?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1D1E2F4-23D7-458B-B377-75838E5BC159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10820400" cy="0"/>
          </a:xfrm>
          <a:prstGeom prst="line">
            <a:avLst/>
          </a:prstGeom>
          <a:noFill/>
          <a:ln w="19050">
            <a:solidFill>
              <a:srgbClr val="5CC8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F670D4-98BF-4618-A824-87C287FADDD1}"/>
              </a:ext>
            </a:extLst>
          </p:cNvPr>
          <p:cNvSpPr>
            <a:spLocks noGrp="1"/>
          </p:cNvSpPr>
          <p:nvPr/>
        </p:nvSpPr>
        <p:spPr>
          <a:xfrm>
            <a:off x="11153775" y="6438900"/>
            <a:ext cx="3524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639425" y="590550"/>
            <a:ext cx="457200" cy="457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54D71C7-9AB2-43F7-8126-D0325A154F24}"/>
              </a:ext>
            </a:extLst>
          </p:cNvPr>
          <p:cNvSpPr>
            <a:spLocks noGrp="1"/>
          </p:cNvSpPr>
          <p:nvPr/>
        </p:nvSpPr>
        <p:spPr>
          <a:xfrm>
            <a:off x="914400" y="18669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TOP FACTORS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823AE2-2442-4945-9FAD-B313B1FA4DEB}"/>
              </a:ext>
            </a:extLst>
          </p:cNvPr>
          <p:cNvSpPr>
            <a:spLocks noGrp="1"/>
          </p:cNvSpPr>
          <p:nvPr/>
        </p:nvSpPr>
        <p:spPr>
          <a:xfrm>
            <a:off x="914400" y="2286000"/>
            <a:ext cx="495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3600" b="1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A55EEC-F30D-494E-AFA2-8800AE62584E}"/>
              </a:ext>
            </a:extLst>
          </p:cNvPr>
          <p:cNvSpPr>
            <a:spLocks noGrp="1"/>
          </p:cNvSpPr>
          <p:nvPr/>
        </p:nvSpPr>
        <p:spPr>
          <a:xfrm>
            <a:off x="1619250" y="2333625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[Factor 1]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AC082D-4563-46EA-8712-6276C3DF6FC6}"/>
              </a:ext>
            </a:extLst>
          </p:cNvPr>
          <p:cNvSpPr>
            <a:spLocks noGrp="1"/>
          </p:cNvSpPr>
          <p:nvPr/>
        </p:nvSpPr>
        <p:spPr>
          <a:xfrm>
            <a:off x="1619250" y="27527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74"/>
          </a:bodyPr>
          <a:lstStyle/>
          <a:p>
            <a:pPr algn="l">
              <a:defRPr sz="12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[Add correlation value or rank rationale]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5788427B-7C69-4E95-9C12-79B86E3268A2}"/>
              </a:ext>
            </a:extLst>
          </p:cNvPr>
          <p:cNvSpPr>
            <a:spLocks noGrp="1"/>
          </p:cNvSpPr>
          <p:nvPr/>
        </p:nvSpPr>
        <p:spPr>
          <a:xfrm>
            <a:off x="1619250" y="3038475"/>
            <a:ext cx="28575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EB1FA6-52A9-4D9B-83ED-5D91CF4EF52C}"/>
              </a:ext>
            </a:extLst>
          </p:cNvPr>
          <p:cNvSpPr>
            <a:spLocks noGrp="1"/>
          </p:cNvSpPr>
          <p:nvPr/>
        </p:nvSpPr>
        <p:spPr>
          <a:xfrm>
            <a:off x="914400" y="3181350"/>
            <a:ext cx="495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36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B126A9-8423-471E-9774-19EECD9FA422}"/>
              </a:ext>
            </a:extLst>
          </p:cNvPr>
          <p:cNvSpPr>
            <a:spLocks noGrp="1"/>
          </p:cNvSpPr>
          <p:nvPr/>
        </p:nvSpPr>
        <p:spPr>
          <a:xfrm>
            <a:off x="1619250" y="3228975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[Factor 2]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22C9AD-E250-4E20-A043-5D4FBB0F4E3D}"/>
              </a:ext>
            </a:extLst>
          </p:cNvPr>
          <p:cNvSpPr>
            <a:spLocks noGrp="1"/>
          </p:cNvSpPr>
          <p:nvPr/>
        </p:nvSpPr>
        <p:spPr>
          <a:xfrm>
            <a:off x="1619250" y="36480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74"/>
          </a:bodyPr>
          <a:lstStyle/>
          <a:p>
            <a:pPr algn="l">
              <a:defRPr sz="12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[Add correlation value or rank rationale]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423A9075-0057-4753-8834-EDC5DA54E45A}"/>
              </a:ext>
            </a:extLst>
          </p:cNvPr>
          <p:cNvSpPr>
            <a:spLocks noGrp="1"/>
          </p:cNvSpPr>
          <p:nvPr/>
        </p:nvSpPr>
        <p:spPr>
          <a:xfrm>
            <a:off x="1619250" y="3933825"/>
            <a:ext cx="28575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55EAD0-A0D0-4691-AD19-24405406635B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495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36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5BC10D-C017-4465-8FE9-EBD9D2F57C99}"/>
              </a:ext>
            </a:extLst>
          </p:cNvPr>
          <p:cNvSpPr>
            <a:spLocks noGrp="1"/>
          </p:cNvSpPr>
          <p:nvPr/>
        </p:nvSpPr>
        <p:spPr>
          <a:xfrm>
            <a:off x="1619250" y="4124325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[Factor 3]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DCD3A1-567C-49FE-8EF1-08F651FAE153}"/>
              </a:ext>
            </a:extLst>
          </p:cNvPr>
          <p:cNvSpPr>
            <a:spLocks noGrp="1"/>
          </p:cNvSpPr>
          <p:nvPr/>
        </p:nvSpPr>
        <p:spPr>
          <a:xfrm>
            <a:off x="1619250" y="45434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274"/>
          </a:bodyPr>
          <a:lstStyle/>
          <a:p>
            <a:pPr algn="l">
              <a:defRPr sz="12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[Add correlation value or rank rationale]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A2A10FCD-EC91-4D58-A603-C28E7F1C05F3}"/>
              </a:ext>
            </a:extLst>
          </p:cNvPr>
          <p:cNvSpPr>
            <a:spLocks noGrp="1"/>
          </p:cNvSpPr>
          <p:nvPr/>
        </p:nvSpPr>
        <p:spPr>
          <a:xfrm>
            <a:off x="1619250" y="4829175"/>
            <a:ext cx="28575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EE6E8ED-7F80-48CF-93CD-7006DB9DFEAA}"/>
              </a:ext>
            </a:extLst>
          </p:cNvPr>
          <p:cNvSpPr>
            <a:spLocks noGrp="1"/>
          </p:cNvSpPr>
          <p:nvPr/>
        </p:nvSpPr>
        <p:spPr>
          <a:xfrm>
            <a:off x="914400" y="5143500"/>
            <a:ext cx="3429000" cy="0"/>
          </a:xfrm>
          <a:prstGeom prst="line">
            <a:avLst/>
          </a:prstGeom>
          <a:noFill/>
          <a:ln w="38100">
            <a:solidFill>
              <a:srgbClr val="18A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0D2B83-AF6F-4FBA-9BD9-2C069EC963AB}"/>
              </a:ext>
            </a:extLst>
          </p:cNvPr>
          <p:cNvSpPr>
            <a:spLocks noGrp="1"/>
          </p:cNvSpPr>
          <p:nvPr/>
        </p:nvSpPr>
        <p:spPr>
          <a:xfrm>
            <a:off x="1104900" y="52959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Correlation ≠ causation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724B6C-7AE3-4CE2-802D-914B095342D4}"/>
              </a:ext>
            </a:extLst>
          </p:cNvPr>
          <p:cNvSpPr>
            <a:spLocks noGrp="1"/>
          </p:cNvSpPr>
          <p:nvPr/>
        </p:nvSpPr>
        <p:spPr>
          <a:xfrm>
            <a:off x="1104900" y="56388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[Note possible confounders or validation needed]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A9DF65-B222-405A-97EB-7A0A8FB94550}"/>
              </a:ext>
            </a:extLst>
          </p:cNvPr>
          <p:cNvSpPr>
            <a:spLocks noGrp="1"/>
          </p:cNvSpPr>
          <p:nvPr/>
        </p:nvSpPr>
        <p:spPr>
          <a:xfrm>
            <a:off x="5095875" y="1809750"/>
            <a:ext cx="6172200" cy="4048125"/>
          </a:xfrm>
          <a:prstGeom prst="rect">
            <a:avLst/>
          </a:prstGeom>
          <a:solidFill>
            <a:srgbClr val="FFFFFF"/>
          </a:solidFill>
          <a:ln w="19050">
            <a:solidFill>
              <a:srgbClr val="CFE2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09E1DD-4996-4449-9616-AE40137B156E}"/>
              </a:ext>
            </a:extLst>
          </p:cNvPr>
          <p:cNvSpPr>
            <a:spLocks noGrp="1"/>
          </p:cNvSpPr>
          <p:nvPr/>
        </p:nvSpPr>
        <p:spPr>
          <a:xfrm>
            <a:off x="5267325" y="3586163"/>
            <a:ext cx="582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[Insert correlation heatmap]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92F2DF-0AB1-4146-8CD8-007712AE5304}"/>
              </a:ext>
            </a:extLst>
          </p:cNvPr>
          <p:cNvSpPr>
            <a:spLocks noGrp="1"/>
          </p:cNvSpPr>
          <p:nvPr/>
        </p:nvSpPr>
        <p:spPr>
          <a:xfrm>
            <a:off x="5267325" y="3948113"/>
            <a:ext cx="5829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Replace with your labeled, readable correlation matrix</a:t>
            </a:r>
          </a:p>
        </p:txBody>
      </p:sp>
    </p:spTree>
    <p:extLst>
      <p:ext uri="{BB962C8B-B14F-4D97-AF65-F5344CB8AC3E}">
        <p14:creationId xmlns:p14="http://schemas.microsoft.com/office/powerpoint/2010/main" val="1646202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102C828-51F0-4D53-873A-E010C6E2AA3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8F0DFF-0B9E-4ED2-AA5F-AF48CE59D97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36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All Findings at a Glance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A849852F-6B33-4F61-888E-5CF781A6849C}"/>
              </a:ext>
            </a:extLst>
          </p:cNvPr>
          <p:cNvSpPr>
            <a:spLocks noGrp="1"/>
          </p:cNvSpPr>
          <p:nvPr/>
        </p:nvSpPr>
        <p:spPr>
          <a:xfrm>
            <a:off x="685800" y="1171575"/>
            <a:ext cx="10820400" cy="0"/>
          </a:xfrm>
          <a:prstGeom prst="line">
            <a:avLst/>
          </a:prstGeom>
          <a:noFill/>
          <a:ln w="19050">
            <a:solidFill>
              <a:srgbClr val="5CC8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66265D-5711-486B-A596-D6E0A41998E3}"/>
              </a:ext>
            </a:extLst>
          </p:cNvPr>
          <p:cNvSpPr>
            <a:spLocks noGrp="1"/>
          </p:cNvSpPr>
          <p:nvPr/>
        </p:nvSpPr>
        <p:spPr>
          <a:xfrm>
            <a:off x="11153775" y="6438900"/>
            <a:ext cx="3524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639425" y="476250"/>
            <a:ext cx="533400" cy="533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8C04E4-6885-407E-9F3E-05A7F156B31B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820400" cy="4514850"/>
          </a:xfrm>
          <a:prstGeom prst="rect">
            <a:avLst/>
          </a:prstGeom>
          <a:solidFill>
            <a:srgbClr val="FFFFFF"/>
          </a:solidFill>
          <a:ln w="19050">
            <a:solidFill>
              <a:srgbClr val="CFE2E8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C9AA0D-BAF8-422C-B823-B4AAE0477605}"/>
              </a:ext>
            </a:extLst>
          </p:cNvPr>
          <p:cNvSpPr>
            <a:spLocks noGrp="1"/>
          </p:cNvSpPr>
          <p:nvPr/>
        </p:nvSpPr>
        <p:spPr>
          <a:xfrm>
            <a:off x="857250" y="3514725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[Insert dashboard image here]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39D89D-A927-4803-9F7D-9E6F0817E372}"/>
              </a:ext>
            </a:extLst>
          </p:cNvPr>
          <p:cNvSpPr>
            <a:spLocks noGrp="1"/>
          </p:cNvSpPr>
          <p:nvPr/>
        </p:nvSpPr>
        <p:spPr>
          <a:xfrm>
            <a:off x="857250" y="3876675"/>
            <a:ext cx="1047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Use a high-resolution export; keep all labels legible at presentation size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E49B2E6-59DD-46B4-A4E8-4BC24F362117}"/>
              </a:ext>
            </a:extLst>
          </p:cNvPr>
          <p:cNvSpPr>
            <a:spLocks noGrp="1"/>
          </p:cNvSpPr>
          <p:nvPr/>
        </p:nvSpPr>
        <p:spPr>
          <a:xfrm>
            <a:off x="952500" y="6172200"/>
            <a:ext cx="102870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BBA839-DCE8-494D-8E47-367601B4AD36}"/>
              </a:ext>
            </a:extLst>
          </p:cNvPr>
          <p:cNvSpPr>
            <a:spLocks noGrp="1"/>
          </p:cNvSpPr>
          <p:nvPr/>
        </p:nvSpPr>
        <p:spPr>
          <a:xfrm>
            <a:off x="914400" y="62484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[Optional one-sentence takeaway from the dashboard]</a:t>
            </a:r>
          </a:p>
        </p:txBody>
      </p:sp>
    </p:spTree>
    <p:extLst>
      <p:ext uri="{BB962C8B-B14F-4D97-AF65-F5344CB8AC3E}">
        <p14:creationId xmlns:p14="http://schemas.microsoft.com/office/powerpoint/2010/main" val="2038558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CDC973C-596F-45D2-A13F-2F12D9F3AAB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RECOMMENDATIONS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7E05E1-E233-42EB-BC8C-B5A6465B71A6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36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What Should the Hospital Do?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0CDAEB33-0CFB-4FB6-A6DA-EDCA023B8494}"/>
              </a:ext>
            </a:extLst>
          </p:cNvPr>
          <p:cNvSpPr>
            <a:spLocks noGrp="1"/>
          </p:cNvSpPr>
          <p:nvPr/>
        </p:nvSpPr>
        <p:spPr>
          <a:xfrm>
            <a:off x="685800" y="1171575"/>
            <a:ext cx="10820400" cy="0"/>
          </a:xfrm>
          <a:prstGeom prst="line">
            <a:avLst/>
          </a:prstGeom>
          <a:noFill/>
          <a:ln w="19050">
            <a:solidFill>
              <a:srgbClr val="5CC8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EF128B-DB63-4BDB-9223-704CC4234ED9}"/>
              </a:ext>
            </a:extLst>
          </p:cNvPr>
          <p:cNvSpPr>
            <a:spLocks noGrp="1"/>
          </p:cNvSpPr>
          <p:nvPr/>
        </p:nvSpPr>
        <p:spPr>
          <a:xfrm>
            <a:off x="11153775" y="6438900"/>
            <a:ext cx="3524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639425" y="476250"/>
            <a:ext cx="533400" cy="533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F6B85DA-2FE2-4E4F-87A6-05F33302C0F9}"/>
              </a:ext>
            </a:extLst>
          </p:cNvPr>
          <p:cNvSpPr>
            <a:spLocks noGrp="1"/>
          </p:cNvSpPr>
          <p:nvPr/>
        </p:nvSpPr>
        <p:spPr>
          <a:xfrm>
            <a:off x="838200" y="1504950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F6C4F-ABD6-477D-8A8F-36DFC30720E1}"/>
              </a:ext>
            </a:extLst>
          </p:cNvPr>
          <p:cNvSpPr>
            <a:spLocks noGrp="1"/>
          </p:cNvSpPr>
          <p:nvPr/>
        </p:nvSpPr>
        <p:spPr>
          <a:xfrm>
            <a:off x="1581150" y="14668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Patient Care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0E4809-FB39-460A-84EE-E0AE0336C907}"/>
              </a:ext>
            </a:extLst>
          </p:cNvPr>
          <p:cNvSpPr>
            <a:spLocks noGrp="1"/>
          </p:cNvSpPr>
          <p:nvPr/>
        </p:nvSpPr>
        <p:spPr>
          <a:xfrm>
            <a:off x="4114800" y="1476375"/>
            <a:ext cx="695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[Recommendation 1 — specify the patient-facing action]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C5533C5-6B76-4C63-AE31-9B4E1359B2CB}"/>
              </a:ext>
            </a:extLst>
          </p:cNvPr>
          <p:cNvSpPr>
            <a:spLocks noGrp="1"/>
          </p:cNvSpPr>
          <p:nvPr/>
        </p:nvSpPr>
        <p:spPr>
          <a:xfrm>
            <a:off x="1581150" y="2038350"/>
            <a:ext cx="94869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471F31-8953-4ACB-BD23-75D46117574F}"/>
              </a:ext>
            </a:extLst>
          </p:cNvPr>
          <p:cNvSpPr>
            <a:spLocks noGrp="1"/>
          </p:cNvSpPr>
          <p:nvPr/>
        </p:nvSpPr>
        <p:spPr>
          <a:xfrm>
            <a:off x="838200" y="2438400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215217-39BE-40D0-9A54-D8E49CD41EEE}"/>
              </a:ext>
            </a:extLst>
          </p:cNvPr>
          <p:cNvSpPr>
            <a:spLocks noGrp="1"/>
          </p:cNvSpPr>
          <p:nvPr/>
        </p:nvSpPr>
        <p:spPr>
          <a:xfrm>
            <a:off x="1581150" y="24003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890"/>
          </a:bodyPr>
          <a:lstStyle/>
          <a:p>
            <a:pPr algn="l">
              <a:defRPr sz="18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Resource Allocation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BF06E7-8007-4C38-AFE0-48D73A35A7F2}"/>
              </a:ext>
            </a:extLst>
          </p:cNvPr>
          <p:cNvSpPr>
            <a:spLocks noGrp="1"/>
          </p:cNvSpPr>
          <p:nvPr/>
        </p:nvSpPr>
        <p:spPr>
          <a:xfrm>
            <a:off x="4114800" y="2409825"/>
            <a:ext cx="695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[Recommendation 2 — identify where staff or capacity should shift]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C886D1A2-71EA-4B42-AFF9-70F404104243}"/>
              </a:ext>
            </a:extLst>
          </p:cNvPr>
          <p:cNvSpPr>
            <a:spLocks noGrp="1"/>
          </p:cNvSpPr>
          <p:nvPr/>
        </p:nvSpPr>
        <p:spPr>
          <a:xfrm>
            <a:off x="1581150" y="2971800"/>
            <a:ext cx="94869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CD761A-268B-461C-BD9F-38D08E8D1E40}"/>
              </a:ext>
            </a:extLst>
          </p:cNvPr>
          <p:cNvSpPr>
            <a:spLocks noGrp="1"/>
          </p:cNvSpPr>
          <p:nvPr/>
        </p:nvSpPr>
        <p:spPr>
          <a:xfrm>
            <a:off x="838200" y="3371850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3D1AE0-D117-4FCF-A778-B993ED296C4D}"/>
              </a:ext>
            </a:extLst>
          </p:cNvPr>
          <p:cNvSpPr>
            <a:spLocks noGrp="1"/>
          </p:cNvSpPr>
          <p:nvPr/>
        </p:nvSpPr>
        <p:spPr>
          <a:xfrm>
            <a:off x="1581150" y="33337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310"/>
          </a:bodyPr>
          <a:lstStyle/>
          <a:p>
            <a:pPr algn="l">
              <a:defRPr sz="18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Preventive Measures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2A454A-8D1B-429C-93EC-D98A65EBDE07}"/>
              </a:ext>
            </a:extLst>
          </p:cNvPr>
          <p:cNvSpPr>
            <a:spLocks noGrp="1"/>
          </p:cNvSpPr>
          <p:nvPr/>
        </p:nvSpPr>
        <p:spPr>
          <a:xfrm>
            <a:off x="4114800" y="3343275"/>
            <a:ext cx="695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[Recommendation 3 — define an intervention before readmission]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3472E25F-BE96-4AAD-85F5-E33F05F16C31}"/>
              </a:ext>
            </a:extLst>
          </p:cNvPr>
          <p:cNvSpPr>
            <a:spLocks noGrp="1"/>
          </p:cNvSpPr>
          <p:nvPr/>
        </p:nvSpPr>
        <p:spPr>
          <a:xfrm>
            <a:off x="1581150" y="3905250"/>
            <a:ext cx="94869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9724D2-15E4-4435-9AF1-FCDEB03D674F}"/>
              </a:ext>
            </a:extLst>
          </p:cNvPr>
          <p:cNvSpPr>
            <a:spLocks noGrp="1"/>
          </p:cNvSpPr>
          <p:nvPr/>
        </p:nvSpPr>
        <p:spPr>
          <a:xfrm>
            <a:off x="838200" y="4305300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ACE78A-DA6B-4155-B942-6FC584E37F29}"/>
              </a:ext>
            </a:extLst>
          </p:cNvPr>
          <p:cNvSpPr>
            <a:spLocks noGrp="1"/>
          </p:cNvSpPr>
          <p:nvPr/>
        </p:nvSpPr>
        <p:spPr>
          <a:xfrm>
            <a:off x="1581150" y="42672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152"/>
          </a:bodyPr>
          <a:lstStyle/>
          <a:p>
            <a:pPr algn="l">
              <a:defRPr sz="18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Cost Optimization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3E4ED0-D40B-4BC5-9D72-C69930DECD86}"/>
              </a:ext>
            </a:extLst>
          </p:cNvPr>
          <p:cNvSpPr>
            <a:spLocks noGrp="1"/>
          </p:cNvSpPr>
          <p:nvPr/>
        </p:nvSpPr>
        <p:spPr>
          <a:xfrm>
            <a:off x="4114800" y="4276725"/>
            <a:ext cx="695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[Recommendation 4 — connect action to avoidable cost]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4F807A82-ADD6-42B9-A9B9-8FED701F5B36}"/>
              </a:ext>
            </a:extLst>
          </p:cNvPr>
          <p:cNvSpPr>
            <a:spLocks noGrp="1"/>
          </p:cNvSpPr>
          <p:nvPr/>
        </p:nvSpPr>
        <p:spPr>
          <a:xfrm>
            <a:off x="1581150" y="4838700"/>
            <a:ext cx="94869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FC1252-F8ED-49E8-887E-CC6080AF4765}"/>
              </a:ext>
            </a:extLst>
          </p:cNvPr>
          <p:cNvSpPr>
            <a:spLocks noGrp="1"/>
          </p:cNvSpPr>
          <p:nvPr/>
        </p:nvSpPr>
        <p:spPr>
          <a:xfrm>
            <a:off x="838200" y="5238750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6A6664-8CE8-415B-9A55-F37305BAF352}"/>
              </a:ext>
            </a:extLst>
          </p:cNvPr>
          <p:cNvSpPr>
            <a:spLocks noGrp="1"/>
          </p:cNvSpPr>
          <p:nvPr/>
        </p:nvSpPr>
        <p:spPr>
          <a:xfrm>
            <a:off x="1581150" y="52006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Data Collection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6EC96E-5F44-4077-B253-C0CEB1C5A1B5}"/>
              </a:ext>
            </a:extLst>
          </p:cNvPr>
          <p:cNvSpPr>
            <a:spLocks noGrp="1"/>
          </p:cNvSpPr>
          <p:nvPr/>
        </p:nvSpPr>
        <p:spPr>
          <a:xfrm>
            <a:off x="4114800" y="5210175"/>
            <a:ext cx="695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[Recommendation 5 — name the field or process to improve]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C28294F7-9F58-4051-9C8F-3F8E9B617569}"/>
              </a:ext>
            </a:extLst>
          </p:cNvPr>
          <p:cNvSpPr>
            <a:spLocks noGrp="1"/>
          </p:cNvSpPr>
          <p:nvPr/>
        </p:nvSpPr>
        <p:spPr>
          <a:xfrm>
            <a:off x="1581150" y="5772150"/>
            <a:ext cx="948690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50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94DEFF7-B795-46E7-B71B-DF9FA7153B7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571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CONCLUSION &amp; Q&amp;A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DE876A-5B90-4EE7-976E-C5199DB282C3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9906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3600" b="1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Summary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7613DD2-C897-465C-80A0-55C0898CEB3A}"/>
              </a:ext>
            </a:extLst>
          </p:cNvPr>
          <p:cNvSpPr>
            <a:spLocks noGrp="1"/>
          </p:cNvSpPr>
          <p:nvPr/>
        </p:nvSpPr>
        <p:spPr>
          <a:xfrm>
            <a:off x="685800" y="1171575"/>
            <a:ext cx="10820400" cy="0"/>
          </a:xfrm>
          <a:prstGeom prst="line">
            <a:avLst/>
          </a:prstGeom>
          <a:noFill/>
          <a:ln w="19050">
            <a:solidFill>
              <a:srgbClr val="5CC8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1726A3-BDAE-4713-AF34-2D24554BD436}"/>
              </a:ext>
            </a:extLst>
          </p:cNvPr>
          <p:cNvSpPr>
            <a:spLocks noGrp="1"/>
          </p:cNvSpPr>
          <p:nvPr/>
        </p:nvSpPr>
        <p:spPr>
          <a:xfrm>
            <a:off x="11153775" y="6438900"/>
            <a:ext cx="3524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9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pic>
        <p:nvPicPr>
          <p:cNvPr id="5" name="Graphic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639425" y="476250"/>
            <a:ext cx="533400" cy="5334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F615BB2-74D3-4C14-BEDF-D6D1BD4D8D07}"/>
              </a:ext>
            </a:extLst>
          </p:cNvPr>
          <p:cNvSpPr>
            <a:spLocks noGrp="1"/>
          </p:cNvSpPr>
          <p:nvPr/>
        </p:nvSpPr>
        <p:spPr>
          <a:xfrm>
            <a:off x="914400" y="15621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RECAP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3C86F8-7BF0-4A5B-B397-217181DBAB48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l">
              <a:defRPr sz="21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16C1A7-F8CF-4FEA-8EEB-BEA574B6BDD2}"/>
              </a:ext>
            </a:extLst>
          </p:cNvPr>
          <p:cNvSpPr>
            <a:spLocks noGrp="1"/>
          </p:cNvSpPr>
          <p:nvPr/>
        </p:nvSpPr>
        <p:spPr>
          <a:xfrm>
            <a:off x="1257300" y="19431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[Top finding 1]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EDA0E0-86B5-4ABB-857D-BE6F911D9830}"/>
              </a:ext>
            </a:extLst>
          </p:cNvPr>
          <p:cNvSpPr>
            <a:spLocks noGrp="1"/>
          </p:cNvSpPr>
          <p:nvPr/>
        </p:nvSpPr>
        <p:spPr>
          <a:xfrm>
            <a:off x="914400" y="2371725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l">
              <a:defRPr sz="21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95EF0E-8D4C-4D44-BF72-E4F9CB0C9C8C}"/>
              </a:ext>
            </a:extLst>
          </p:cNvPr>
          <p:cNvSpPr>
            <a:spLocks noGrp="1"/>
          </p:cNvSpPr>
          <p:nvPr/>
        </p:nvSpPr>
        <p:spPr>
          <a:xfrm>
            <a:off x="1257300" y="239077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[Top finding 2]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2FA24A-9E3E-4770-80F5-05E66E0BB78F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228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0833" lnSpcReduction="10000"/>
          </a:bodyPr>
          <a:lstStyle/>
          <a:p>
            <a:pPr algn="l">
              <a:defRPr sz="21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914BD7-3390-40AE-A799-F7E90DEC62DB}"/>
              </a:ext>
            </a:extLst>
          </p:cNvPr>
          <p:cNvSpPr>
            <a:spLocks noGrp="1"/>
          </p:cNvSpPr>
          <p:nvPr/>
        </p:nvSpPr>
        <p:spPr>
          <a:xfrm>
            <a:off x="1257300" y="28384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[Top finding 3]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39C29AF3-2D7F-4DF9-987A-CBC9F036B6CB}"/>
              </a:ext>
            </a:extLst>
          </p:cNvPr>
          <p:cNvSpPr>
            <a:spLocks noGrp="1"/>
          </p:cNvSpPr>
          <p:nvPr/>
        </p:nvSpPr>
        <p:spPr>
          <a:xfrm>
            <a:off x="914400" y="3390900"/>
            <a:ext cx="4476750" cy="0"/>
          </a:xfrm>
          <a:prstGeom prst="line">
            <a:avLst/>
          </a:prstGeom>
          <a:noFill/>
          <a:ln w="9525">
            <a:solidFill>
              <a:srgbClr val="CFE2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8D8BE5-948D-43EE-9B26-CD30E3BDAF9A}"/>
              </a:ext>
            </a:extLst>
          </p:cNvPr>
          <p:cNvSpPr>
            <a:spLocks noGrp="1"/>
          </p:cNvSpPr>
          <p:nvPr/>
        </p:nvSpPr>
        <p:spPr>
          <a:xfrm>
            <a:off x="914400" y="36385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IMPACT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0BD5-F995-4268-B64D-7BCBAA3A3151}"/>
              </a:ext>
            </a:extLst>
          </p:cNvPr>
          <p:cNvSpPr>
            <a:spLocks noGrp="1"/>
          </p:cNvSpPr>
          <p:nvPr/>
        </p:nvSpPr>
        <p:spPr>
          <a:xfrm>
            <a:off x="914400" y="3981450"/>
            <a:ext cx="4476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>
                <a:solidFill>
                  <a:srgbClr val="173B52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3B52"/>
                </a:solidFill>
                <a:latin typeface="Segoe UI"/>
                <a:ea typeface="Segoe UI"/>
                <a:cs typeface="Segoe UI"/>
              </a:rPr>
              <a:t>[Explain how the recommendations could improve outcomes, quality, or cost]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E00454-8604-433A-97A9-D3D32BAFECE5}"/>
              </a:ext>
            </a:extLst>
          </p:cNvPr>
          <p:cNvSpPr>
            <a:spLocks noGrp="1"/>
          </p:cNvSpPr>
          <p:nvPr/>
        </p:nvSpPr>
        <p:spPr>
          <a:xfrm>
            <a:off x="914400" y="498157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8A5A0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8A5A0"/>
                </a:solidFill>
                <a:latin typeface="Segoe UI"/>
                <a:ea typeface="Segoe UI"/>
                <a:cs typeface="Segoe UI"/>
              </a:rPr>
              <a:t>NEXT STEPS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92F040-D5C9-4A72-9C69-4C9465BD7C73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447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[State the next analysis, validation, or implementation step]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FACA9DC9-804E-450F-9D10-20363D483D25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0" cy="0"/>
          </a:xfrm>
          <a:prstGeom prst="line">
            <a:avLst/>
          </a:prstGeom>
          <a:noFill/>
          <a:ln w="47625">
            <a:solidFill>
              <a:srgbClr val="18A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C4FEFE-0467-47A6-9925-666B98EB1CE0}"/>
              </a:ext>
            </a:extLst>
          </p:cNvPr>
          <p:cNvSpPr>
            <a:spLocks noGrp="1"/>
          </p:cNvSpPr>
          <p:nvPr/>
        </p:nvSpPr>
        <p:spPr>
          <a:xfrm>
            <a:off x="6667500" y="2171700"/>
            <a:ext cx="4191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200" b="1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Thank you —</a:t>
            </a:r>
          </a:p>
          <a:p>
            <a:pPr algn="l">
              <a:defRPr sz="4200" b="1">
                <a:solidFill>
                  <a:srgbClr val="146C94"/>
                </a:solidFill>
                <a:latin typeface="Segoe UI"/>
                <a:ea typeface="Segoe UI"/>
                <a:cs typeface="Segoe UI"/>
              </a:defRPr>
            </a:pPr>
            <a:r>
              <a:rPr sz="4200" b="1">
                <a:solidFill>
                  <a:srgbClr val="146C94"/>
                </a:solidFill>
                <a:latin typeface="Segoe UI"/>
                <a:ea typeface="Segoe UI"/>
                <a:cs typeface="Segoe UI"/>
              </a:rPr>
              <a:t>Questions?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AE847E-8FE2-414F-98E2-E94C8BDC101C}"/>
              </a:ext>
            </a:extLst>
          </p:cNvPr>
          <p:cNvSpPr>
            <a:spLocks noGrp="1"/>
          </p:cNvSpPr>
          <p:nvPr/>
        </p:nvSpPr>
        <p:spPr>
          <a:xfrm>
            <a:off x="6705600" y="4248150"/>
            <a:ext cx="381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Student Name: [Your Name]</a:t>
            </a:r>
          </a:p>
          <a:p>
            <a:pPr algn="l">
              <a:defRPr sz="1425" b="0">
                <a:solidFill>
                  <a:srgbClr val="5F7180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F7180"/>
                </a:solidFill>
                <a:latin typeface="Segoe UI"/>
                <a:ea typeface="Segoe UI"/>
                <a:cs typeface="Segoe UI"/>
              </a:rPr>
              <a:t>Course: [Course Name] · Date: [Date]</a:t>
            </a:r>
          </a:p>
        </p:txBody>
      </p:sp>
    </p:spTree>
    <p:extLst>
      <p:ext uri="{BB962C8B-B14F-4D97-AF65-F5344CB8AC3E}">
        <p14:creationId xmlns:p14="http://schemas.microsoft.com/office/powerpoint/2010/main" val="19534897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685</Words>
  <Application>Microsoft Office PowerPoint</Application>
  <PresentationFormat>Widescreen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Segoe UI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Esa Syed</dc:creator>
  <cp:lastModifiedBy>Esa Syed</cp:lastModifiedBy>
  <cp:revision>2</cp:revision>
  <dcterms:created xsi:type="dcterms:W3CDTF">2026-09-14T14:21:34Z</dcterms:created>
  <dcterms:modified xsi:type="dcterms:W3CDTF">2026-09-14T14:28:07Z</dcterms:modified>
</cp:coreProperties>
</file>